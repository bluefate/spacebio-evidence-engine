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challenge: researchers need trustworthy answers, not another general-purpose chatbot. Introduce the project as a local-first, citation-first evidence workspace.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that the core problem is not access to a language model. It is evidence discovery with scientific provenance and explicit limits.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controlled corpus and fail-closed approach. Stress that the system does not silently fall back to general model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Describe the data flow left to right. The same provenance fields survive extraction, retrieval, answer generation, and citation display.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Ask form. Explain that every answer claim should map to a retrieved citation and that unsupported generation is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that users can inspect the approved corpus and open individual publication metadata, DOI, license, organism, exposure, and ingest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semantic/keyword search and the compare workspace. Comparison is metadata-based and deliberately does not invent cross-study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the AI stack and safeguards. Keep the distinction clear: retrieval identifies evidence; generation summarizes only what retrieval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measurable engineering results. Avoid claiming scientific accuracy beyond the available evaluation fixtures and human review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live-demo sequence and backup plan. The student has already notified the program that he will not participate in the live final showcase presentation; these artifacts support evaluation and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candid about limitations. Emphasize that local-first deployment and a controlled topic were conscious scope decisions, not hidden gaps.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returning to the core value: scientific synthesis that stays linked to inspectable evidence. Invite repository-based review and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02920"/>
            <a:ext cx="3291840" cy="10291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1828800"/>
            <a:ext cx="6400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Space Biology</a:t>
            </a:r>
            <a:br/>
            <a:r>
              <a:t>Evidence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01568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BEE2EB"/>
                </a:solidFill>
                <a:latin typeface="Aptos"/>
              </a:defRPr>
            </a:pPr>
            <a:r>
              <a:t>Citation-first research synthesis from a controlled 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03520"/>
            <a:ext cx="5303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  <a:latin typeface="Aptos"/>
              </a:defRPr>
            </a:pPr>
            <a:r>
              <a:t>John Hernandez  |  jherna65@fau.edu</a:t>
            </a:r>
            <a:br/>
            <a:r>
              <a:t>FAU AI HootCamp  |  Final Project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Space biology evidence is fragmented and difficult to synthesize safely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Scattered evidence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Relevant studies span publishers, organisms, experimental models, and terminology.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High trust bar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Scientific users need passage-level provenance, not unsupported model recall.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94560"/>
            <a:ext cx="3383280" cy="192024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Slow comparison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Researchers repeatedly search, read, and reconcile study context by hand.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7315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041839"/>
                </a:solidFill>
                <a:latin typeface="Aptos"/>
              </a:defRPr>
            </a:pPr>
            <a:r>
              <a:t>•  Primary users: space-biology researchers, students, educators, and corpus maintainers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controlled, provenance-preserving evidence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846320" cy="34747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23 owner-approved open-access publications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Semantic + keyword retrieval over indexed passages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Grounded answers with passage-level citations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Explicit insufficient-evidence responses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Local-first operation with optional OpenAI or Ollama generation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828799"/>
            <a:ext cx="5669279" cy="3968496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874519"/>
            <a:ext cx="5577840" cy="3877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Retrieval and generation remain independently testable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Approved PDFs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License + quality checks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48716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3463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Ingest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Extract → chunk → embed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1888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6635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Postgres + pgvector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Metadata + vectors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50607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Hybrid retrieval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Semantic + full-text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482328" y="2852928"/>
            <a:ext cx="292608" cy="320040"/>
          </a:xfrm>
          <a:prstGeom prst="rightArrow">
            <a:avLst/>
          </a:prstGeom>
          <a:solidFill>
            <a:srgbClr val="006F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829800" y="2331720"/>
            <a:ext cx="1965960" cy="150876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Grounded answer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Citation validation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26280"/>
            <a:ext cx="10515600" cy="1097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Next.js frontend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FastAPI API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SQLAlchemy + Alembic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Local embeddings</a:t>
            </a:r>
          </a:p>
          <a:p>
            <a:pPr>
              <a:spcAft>
                <a:spcPts val="1200"/>
              </a:spcAft>
              <a:defRPr sz="1600">
                <a:solidFill>
                  <a:srgbClr val="041839"/>
                </a:solidFill>
                <a:latin typeface="Aptos"/>
              </a:defRPr>
            </a:pPr>
            <a:r>
              <a:t>•  Provider-neutral LLM interface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Grounded question answering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Answers are constrained to retrieved corpus passages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799"/>
            <a:ext cx="6492240" cy="453542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2-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874519"/>
            <a:ext cx="6400800" cy="444398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60920" y="2057400"/>
            <a:ext cx="411480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Evidence sufficiency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Weak or empty retrieval returns a fixed insufficient-evidence response without invoking the LLM.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60920" y="3703320"/>
            <a:ext cx="411480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Citation validation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Unknown, missing, or invented citation markers fail closed instead of becoming successful answers.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Controlled corpus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Inventory visibility makes the evidence boundary explicit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66751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4-corp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783080"/>
            <a:ext cx="6583680" cy="4572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406640" y="1737360"/>
            <a:ext cx="4251959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6-public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783080"/>
            <a:ext cx="4160520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Search and study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Discovery without collapsing distinct evidence types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83080"/>
            <a:ext cx="5623559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3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53212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783080"/>
            <a:ext cx="5623559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-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53212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5806440"/>
            <a:ext cx="10607040" cy="54864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300">
                <a:solidFill>
                  <a:srgbClr val="041839"/>
                </a:solidFill>
                <a:latin typeface="Aptos"/>
              </a:defRPr>
            </a:pPr>
            <a:r>
              <a:t>•  Search preserves IDs, source links, sections, and pages</a:t>
            </a:r>
          </a:p>
          <a:p>
            <a:pPr>
              <a:spcAft>
                <a:spcPts val="1200"/>
              </a:spcAft>
              <a:defRPr sz="1300">
                <a:solidFill>
                  <a:srgbClr val="041839"/>
                </a:solidFill>
                <a:latin typeface="Aptos"/>
              </a:defRPr>
            </a:pPr>
            <a:r>
              <a:t>•  Compare keeps organism and experimental-system labels visible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AI capabilities and safeguards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Useful automation with explicit scientific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Local embeddings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Sentence Transformers for private, low-cost semantic retrieval.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53128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Provider-neutral generation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OpenAI and local Ollama paths behind a shared interface.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11896" y="1874519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Hybrid retrieval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Vector similarity and PostgreSQL full-text retrieval with optional reranking.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Evidence gates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Minimum passage and publication support before generation.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Citation-first output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Passage IDs and publication provenance remain inspectable.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11896" y="3794760"/>
            <a:ext cx="3520440" cy="16002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Hallucination checks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Offline fixtures flag unsupported claims and citation mismatches.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Results and engineering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tested MVP with transparent limitations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23 publications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Approved controlled corpus inventory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292+ Python tests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Unit, API, retrieval, ingestion, citation, and accessibility coverage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011680"/>
            <a:ext cx="3246120" cy="141732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006F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CI quality gates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Ruff, Pyright, Python tests, Node typecheck and UI tests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241280" cy="1645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Citation correctness, hallucination, and retrieval evaluation harnesses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No secrets committed; `.env` loading and fail-closed provider configuration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Accessible interface patterns and keyboard-tested UI components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Demo readiness and operations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Local-first setup with a documented backup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5166360" cy="18288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27B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Primary demo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Run Postgres/pgvector, ingest approved PDFs, start FastAPI + Next.js, and use Ollama or OpenAI for grounded Ask.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965960"/>
            <a:ext cx="5166360" cy="1828800"/>
          </a:xfrm>
          <a:prstGeom prst="roundRect">
            <a:avLst/>
          </a:prstGeom>
          <a:solidFill>
            <a:srgbClr val="EFF8FC"/>
          </a:solidFill>
          <a:ln w="19050">
            <a:solidFill>
              <a:srgbClr val="DCA0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128016"/>
          <a:lstStyle/>
          <a:p>
            <a:pPr algn="ctr">
              <a:defRPr sz="1700" b="1">
                <a:solidFill>
                  <a:srgbClr val="041839"/>
                </a:solidFill>
                <a:latin typeface="Aptos Display"/>
              </a:defRPr>
            </a:pPr>
            <a:r>
              <a:t>Backup demo</a:t>
            </a:r>
          </a:p>
          <a:p>
            <a:pPr>
              <a:spcBef>
                <a:spcPts val="500"/>
              </a:spcBef>
              <a:defRPr sz="1200">
                <a:solidFill>
                  <a:srgbClr val="495B74"/>
                </a:solidFill>
                <a:latin typeface="Aptos"/>
              </a:defRPr>
            </a:pPr>
            <a:r>
              <a:t>Use repository screenshots and this deck if network, model, Docker, or showcase equipment is unavailable.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24128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Documented clean-machine setup and troubleshooting</a:t>
            </a:r>
          </a:p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PDF fetch/ingest commands and provenance-preserving index</a:t>
            </a:r>
          </a:p>
          <a:p>
            <a:pPr>
              <a:spcAft>
                <a:spcPts val="1200"/>
              </a:spcAft>
              <a:defRPr sz="1700">
                <a:solidFill>
                  <a:srgbClr val="041839"/>
                </a:solidFill>
                <a:latin typeface="Aptos"/>
              </a:defRPr>
            </a:pPr>
            <a:r>
              <a:t>•  Static corpus browsing remains available without the model 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41839"/>
                </a:solidFill>
                <a:latin typeface="Aptos Display"/>
              </a:defRPr>
            </a:pPr>
            <a:r>
              <a:t>Known 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495B74"/>
                </a:solidFill>
                <a:latin typeface="Aptos"/>
              </a:defRPr>
            </a:pPr>
            <a:r>
              <a:t>The MVP is intentionally bounded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058400" cy="39319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Local deployment only; no public production URL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Grounded Ask requires an indexed corpus plus configured OpenAI or Ollama provider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Scientific outputs still require human review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Corpus focuses on microgravity and skeletal muscle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Future: stronger retrieval benchmarks, broader curated corpus, reviewer workflow, and production deployment</a:t>
            </a:r>
          </a:p>
          <a:p>
            <a:pPr>
              <a:spcAft>
                <a:spcPts val="1200"/>
              </a:spcAft>
              <a:defRPr sz="2000">
                <a:solidFill>
                  <a:srgbClr val="041839"/>
                </a:solidFill>
                <a:latin typeface="Aptos"/>
              </a:defRPr>
            </a:pPr>
            <a:r>
              <a:t>•  Graph extraction remains experimental; no graph database in the MVP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495B74"/>
                </a:solidFill>
                <a:latin typeface="Aptos"/>
              </a:defRPr>
            </a:pPr>
            <a:r>
              <a:t>Space Biology Evidence Engine  |  John Hernandez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83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atmosphe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0"/>
            <a:ext cx="61566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60720" y="0"/>
            <a:ext cx="6492240" cy="6858000"/>
          </a:xfrm>
          <a:prstGeom prst="rect">
            <a:avLst/>
          </a:prstGeom>
          <a:solidFill>
            <a:srgbClr val="041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ord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3657600" cy="11434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82296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Aptos Display"/>
              </a:defRPr>
            </a:pPr>
            <a:r>
              <a:t>Trustworthy evidence, one passage at a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0876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2E2EE"/>
                </a:solidFill>
                <a:latin typeface="Aptos"/>
              </a:defRPr>
            </a:pPr>
            <a:r>
              <a:t>A practical foundation for citation-first space-biology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572000" cy="2286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Controlled corpus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Grounded retrieval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Validated citations</a:t>
            </a:r>
          </a:p>
          <a:p>
            <a:pPr>
              <a:spcAft>
                <a:spcPts val="1200"/>
              </a:spcAft>
              <a:defRPr sz="2400">
                <a:solidFill>
                  <a:srgbClr val="FFFFFF"/>
                </a:solidFill>
                <a:latin typeface="Aptos"/>
              </a:defRPr>
            </a:pPr>
            <a:r>
              <a:t>•  Transparent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4297680"/>
            <a:ext cx="47548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800">
                <a:solidFill>
                  <a:srgbClr val="FFFFFF"/>
                </a:solidFill>
                <a:latin typeface="Aptos"/>
              </a:defRPr>
            </a:pPr>
            <a:r>
              <a:t>John Hernandez</a:t>
            </a:r>
            <a:br/>
            <a:r>
              <a:t>jherna65@fau.edu</a:t>
            </a:r>
            <a:br/>
            <a:r>
              <a:t>GitHub: bluefate/spacebio-evidence-engine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B4D2E1"/>
                </a:solidFill>
                <a:latin typeface="Aptos"/>
              </a:defRPr>
            </a:pPr>
            <a:r>
              <a:t>Space Biology Evidence Engine  |  John Hernandez  | 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
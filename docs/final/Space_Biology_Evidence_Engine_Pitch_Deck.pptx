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0"/>
  </p:normalViewPr>
  <p:slideViewPr>
    <p:cSldViewPr snapToGrid="0" snapToObjects="1">
      <p:cViewPr varScale="1">
        <p:scale>
          <a:sx n="104" d="100"/>
          <a:sy n="104" d="100"/>
        </p:scale>
        <p:origin x="232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E5864B-8D14-4B36-89DD-680E3E8AFB94}" type="doc">
      <dgm:prSet loTypeId="urn:microsoft.com/office/officeart/2018/2/layout/IconLabelList" loCatId="icon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655F724C-0FE3-433C-AD56-1C856B8A52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 Local deployment only; no public production URL</a:t>
          </a:r>
        </a:p>
      </dgm:t>
    </dgm:pt>
    <dgm:pt modelId="{845E9E0A-3D1A-4E1F-B649-0E59E1060025}" type="parTrans" cxnId="{73763C07-AD96-42DF-9FDA-8A17F39D4D85}">
      <dgm:prSet/>
      <dgm:spPr/>
      <dgm:t>
        <a:bodyPr/>
        <a:lstStyle/>
        <a:p>
          <a:endParaRPr lang="en-US"/>
        </a:p>
      </dgm:t>
    </dgm:pt>
    <dgm:pt modelId="{422A5CA8-CE36-4B86-8D06-67F613E86F81}" type="sibTrans" cxnId="{73763C07-AD96-42DF-9FDA-8A17F39D4D85}">
      <dgm:prSet/>
      <dgm:spPr/>
      <dgm:t>
        <a:bodyPr/>
        <a:lstStyle/>
        <a:p>
          <a:endParaRPr lang="en-US"/>
        </a:p>
      </dgm:t>
    </dgm:pt>
    <dgm:pt modelId="{ADAA5705-65BC-45DF-96AA-BAEC2ABC7F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 Grounded Ask requires an indexed corpus plus configured OpenAI or Ollama provider</a:t>
          </a:r>
        </a:p>
      </dgm:t>
    </dgm:pt>
    <dgm:pt modelId="{3C391262-A41D-4E48-A8AB-DA8806EC25DC}" type="parTrans" cxnId="{E861373C-0884-4B08-8A05-5977712D4AC6}">
      <dgm:prSet/>
      <dgm:spPr/>
      <dgm:t>
        <a:bodyPr/>
        <a:lstStyle/>
        <a:p>
          <a:endParaRPr lang="en-US"/>
        </a:p>
      </dgm:t>
    </dgm:pt>
    <dgm:pt modelId="{CD7CD5A7-43B8-43D0-B905-670FC6DD3290}" type="sibTrans" cxnId="{E861373C-0884-4B08-8A05-5977712D4AC6}">
      <dgm:prSet/>
      <dgm:spPr/>
      <dgm:t>
        <a:bodyPr/>
        <a:lstStyle/>
        <a:p>
          <a:endParaRPr lang="en-US"/>
        </a:p>
      </dgm:t>
    </dgm:pt>
    <dgm:pt modelId="{E9E9F1A1-5F54-4F5F-A8CA-3CC10706D7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 Scientific outputs still require human review</a:t>
          </a:r>
        </a:p>
      </dgm:t>
    </dgm:pt>
    <dgm:pt modelId="{FB8BFB87-65F9-4D7F-A25E-D1D84F04AAC7}" type="parTrans" cxnId="{2407F629-D3EA-4671-B84F-51D068237726}">
      <dgm:prSet/>
      <dgm:spPr/>
      <dgm:t>
        <a:bodyPr/>
        <a:lstStyle/>
        <a:p>
          <a:endParaRPr lang="en-US"/>
        </a:p>
      </dgm:t>
    </dgm:pt>
    <dgm:pt modelId="{E3BEEC16-E156-4E2E-908E-A6FA6F6E799E}" type="sibTrans" cxnId="{2407F629-D3EA-4671-B84F-51D068237726}">
      <dgm:prSet/>
      <dgm:spPr/>
      <dgm:t>
        <a:bodyPr/>
        <a:lstStyle/>
        <a:p>
          <a:endParaRPr lang="en-US"/>
        </a:p>
      </dgm:t>
    </dgm:pt>
    <dgm:pt modelId="{55B13F4C-1DC1-48ED-87D6-D6E64540F4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 Corpus focuses on microgravity and skeletal muscle</a:t>
          </a:r>
        </a:p>
      </dgm:t>
    </dgm:pt>
    <dgm:pt modelId="{C95743D1-5E53-436F-AD58-E5BC5DBB490A}" type="parTrans" cxnId="{8A3FEB0E-0B16-4FDE-AF53-96D4DE14BAC1}">
      <dgm:prSet/>
      <dgm:spPr/>
      <dgm:t>
        <a:bodyPr/>
        <a:lstStyle/>
        <a:p>
          <a:endParaRPr lang="en-US"/>
        </a:p>
      </dgm:t>
    </dgm:pt>
    <dgm:pt modelId="{32E52C9B-A439-4702-9B58-ACC8ACBF538D}" type="sibTrans" cxnId="{8A3FEB0E-0B16-4FDE-AF53-96D4DE14BAC1}">
      <dgm:prSet/>
      <dgm:spPr/>
      <dgm:t>
        <a:bodyPr/>
        <a:lstStyle/>
        <a:p>
          <a:endParaRPr lang="en-US"/>
        </a:p>
      </dgm:t>
    </dgm:pt>
    <dgm:pt modelId="{4841D909-0ECA-47F1-B60F-CC10392949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 Future: stronger retrieval benchmarks, broader curated corpus, reviewer workflow, and production deployment</a:t>
          </a:r>
        </a:p>
      </dgm:t>
    </dgm:pt>
    <dgm:pt modelId="{A7CD1A93-C9F9-47CE-93EB-5201E11A793D}" type="parTrans" cxnId="{81643F3A-1AA5-4A42-8F52-263236B90B5C}">
      <dgm:prSet/>
      <dgm:spPr/>
      <dgm:t>
        <a:bodyPr/>
        <a:lstStyle/>
        <a:p>
          <a:endParaRPr lang="en-US"/>
        </a:p>
      </dgm:t>
    </dgm:pt>
    <dgm:pt modelId="{130EC4CB-714D-4E1C-B7B5-16D8B46F6D8E}" type="sibTrans" cxnId="{81643F3A-1AA5-4A42-8F52-263236B90B5C}">
      <dgm:prSet/>
      <dgm:spPr/>
      <dgm:t>
        <a:bodyPr/>
        <a:lstStyle/>
        <a:p>
          <a:endParaRPr lang="en-US"/>
        </a:p>
      </dgm:t>
    </dgm:pt>
    <dgm:pt modelId="{BE080DBF-1A07-4576-93F7-5527751275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 Graph extraction remains experimental; no graph database in the MVP</a:t>
          </a:r>
        </a:p>
      </dgm:t>
    </dgm:pt>
    <dgm:pt modelId="{9C927B6E-BDD5-4F92-A92E-4CE52227AA74}" type="parTrans" cxnId="{B422EFD3-70CF-4883-A7CC-C33E917BC4A6}">
      <dgm:prSet/>
      <dgm:spPr/>
      <dgm:t>
        <a:bodyPr/>
        <a:lstStyle/>
        <a:p>
          <a:endParaRPr lang="en-US"/>
        </a:p>
      </dgm:t>
    </dgm:pt>
    <dgm:pt modelId="{34C30DFD-0D0D-41AE-AEF5-76F5EADD3709}" type="sibTrans" cxnId="{B422EFD3-70CF-4883-A7CC-C33E917BC4A6}">
      <dgm:prSet/>
      <dgm:spPr/>
      <dgm:t>
        <a:bodyPr/>
        <a:lstStyle/>
        <a:p>
          <a:endParaRPr lang="en-US"/>
        </a:p>
      </dgm:t>
    </dgm:pt>
    <dgm:pt modelId="{989C3F12-1DE6-4B34-83FC-42455D24DC64}" type="pres">
      <dgm:prSet presAssocID="{D7E5864B-8D14-4B36-89DD-680E3E8AFB94}" presName="root" presStyleCnt="0">
        <dgm:presLayoutVars>
          <dgm:dir/>
          <dgm:resizeHandles val="exact"/>
        </dgm:presLayoutVars>
      </dgm:prSet>
      <dgm:spPr/>
    </dgm:pt>
    <dgm:pt modelId="{A9D239A2-D8D0-49CF-8AFC-DD6E5D4C31B6}" type="pres">
      <dgm:prSet presAssocID="{655F724C-0FE3-433C-AD56-1C856B8A5239}" presName="compNode" presStyleCnt="0"/>
      <dgm:spPr/>
    </dgm:pt>
    <dgm:pt modelId="{8C9ED2B8-5F0F-44D6-BB47-B52AA1070A65}" type="pres">
      <dgm:prSet presAssocID="{655F724C-0FE3-433C-AD56-1C856B8A5239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AFD85991-1D28-4CA0-82B5-85ADEDFD21D8}" type="pres">
      <dgm:prSet presAssocID="{655F724C-0FE3-433C-AD56-1C856B8A5239}" presName="spaceRect" presStyleCnt="0"/>
      <dgm:spPr/>
    </dgm:pt>
    <dgm:pt modelId="{1557FBA4-4C71-4185-BE01-539A645F79CC}" type="pres">
      <dgm:prSet presAssocID="{655F724C-0FE3-433C-AD56-1C856B8A5239}" presName="textRect" presStyleLbl="revTx" presStyleIdx="0" presStyleCnt="6">
        <dgm:presLayoutVars>
          <dgm:chMax val="1"/>
          <dgm:chPref val="1"/>
        </dgm:presLayoutVars>
      </dgm:prSet>
      <dgm:spPr/>
    </dgm:pt>
    <dgm:pt modelId="{7B2F8A88-C3A8-43E8-981A-B7BCFB0577F0}" type="pres">
      <dgm:prSet presAssocID="{422A5CA8-CE36-4B86-8D06-67F613E86F81}" presName="sibTrans" presStyleCnt="0"/>
      <dgm:spPr/>
    </dgm:pt>
    <dgm:pt modelId="{D1A1C142-852D-4D1E-8572-5A16722E0BD4}" type="pres">
      <dgm:prSet presAssocID="{ADAA5705-65BC-45DF-96AA-BAEC2ABC7FB9}" presName="compNode" presStyleCnt="0"/>
      <dgm:spPr/>
    </dgm:pt>
    <dgm:pt modelId="{748D82E9-9BB4-439A-B265-335B5C1C1506}" type="pres">
      <dgm:prSet presAssocID="{ADAA5705-65BC-45DF-96AA-BAEC2ABC7FB9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3373FD7-1C88-45E5-82D6-19FD0ECC520B}" type="pres">
      <dgm:prSet presAssocID="{ADAA5705-65BC-45DF-96AA-BAEC2ABC7FB9}" presName="spaceRect" presStyleCnt="0"/>
      <dgm:spPr/>
    </dgm:pt>
    <dgm:pt modelId="{8D039C46-DB95-453B-A120-9BD6217202A5}" type="pres">
      <dgm:prSet presAssocID="{ADAA5705-65BC-45DF-96AA-BAEC2ABC7FB9}" presName="textRect" presStyleLbl="revTx" presStyleIdx="1" presStyleCnt="6">
        <dgm:presLayoutVars>
          <dgm:chMax val="1"/>
          <dgm:chPref val="1"/>
        </dgm:presLayoutVars>
      </dgm:prSet>
      <dgm:spPr/>
    </dgm:pt>
    <dgm:pt modelId="{B67AB8C9-4C56-4D55-947E-B352458068E0}" type="pres">
      <dgm:prSet presAssocID="{CD7CD5A7-43B8-43D0-B905-670FC6DD3290}" presName="sibTrans" presStyleCnt="0"/>
      <dgm:spPr/>
    </dgm:pt>
    <dgm:pt modelId="{99E3F4EC-AFB3-4E06-90A4-A99B4CCE9511}" type="pres">
      <dgm:prSet presAssocID="{E9E9F1A1-5F54-4F5F-A8CA-3CC10706D776}" presName="compNode" presStyleCnt="0"/>
      <dgm:spPr/>
    </dgm:pt>
    <dgm:pt modelId="{B6F205E8-8DD2-4F29-B9D6-37E66D1FC58F}" type="pres">
      <dgm:prSet presAssocID="{E9E9F1A1-5F54-4F5F-A8CA-3CC10706D776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34E05C53-073D-4938-85BE-86CA894B610E}" type="pres">
      <dgm:prSet presAssocID="{E9E9F1A1-5F54-4F5F-A8CA-3CC10706D776}" presName="spaceRect" presStyleCnt="0"/>
      <dgm:spPr/>
    </dgm:pt>
    <dgm:pt modelId="{B04D4E1A-9E43-4766-BE67-38F98048B9C4}" type="pres">
      <dgm:prSet presAssocID="{E9E9F1A1-5F54-4F5F-A8CA-3CC10706D776}" presName="textRect" presStyleLbl="revTx" presStyleIdx="2" presStyleCnt="6">
        <dgm:presLayoutVars>
          <dgm:chMax val="1"/>
          <dgm:chPref val="1"/>
        </dgm:presLayoutVars>
      </dgm:prSet>
      <dgm:spPr/>
    </dgm:pt>
    <dgm:pt modelId="{E950B444-3E44-4CE1-AD1D-75DA7588D22A}" type="pres">
      <dgm:prSet presAssocID="{E3BEEC16-E156-4E2E-908E-A6FA6F6E799E}" presName="sibTrans" presStyleCnt="0"/>
      <dgm:spPr/>
    </dgm:pt>
    <dgm:pt modelId="{B1C7748F-D882-4E4B-9EBF-B3CC22E53258}" type="pres">
      <dgm:prSet presAssocID="{55B13F4C-1DC1-48ED-87D6-D6E64540F49B}" presName="compNode" presStyleCnt="0"/>
      <dgm:spPr/>
    </dgm:pt>
    <dgm:pt modelId="{00F88EDF-63E8-4E09-8E2E-8B7137800330}" type="pres">
      <dgm:prSet presAssocID="{55B13F4C-1DC1-48ED-87D6-D6E64540F49B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849D82F4-6709-4AE7-B4DD-083B891442E8}" type="pres">
      <dgm:prSet presAssocID="{55B13F4C-1DC1-48ED-87D6-D6E64540F49B}" presName="spaceRect" presStyleCnt="0"/>
      <dgm:spPr/>
    </dgm:pt>
    <dgm:pt modelId="{414B806F-CFDD-4901-8D52-862E3CA26E50}" type="pres">
      <dgm:prSet presAssocID="{55B13F4C-1DC1-48ED-87D6-D6E64540F49B}" presName="textRect" presStyleLbl="revTx" presStyleIdx="3" presStyleCnt="6">
        <dgm:presLayoutVars>
          <dgm:chMax val="1"/>
          <dgm:chPref val="1"/>
        </dgm:presLayoutVars>
      </dgm:prSet>
      <dgm:spPr/>
    </dgm:pt>
    <dgm:pt modelId="{EDFA6C46-68DE-4F4E-8BD5-DBFCB259C7D5}" type="pres">
      <dgm:prSet presAssocID="{32E52C9B-A439-4702-9B58-ACC8ACBF538D}" presName="sibTrans" presStyleCnt="0"/>
      <dgm:spPr/>
    </dgm:pt>
    <dgm:pt modelId="{39F721D3-1955-4E6D-8423-4CEB78BA2E93}" type="pres">
      <dgm:prSet presAssocID="{4841D909-0ECA-47F1-B60F-CC10392949AD}" presName="compNode" presStyleCnt="0"/>
      <dgm:spPr/>
    </dgm:pt>
    <dgm:pt modelId="{D185AC82-5F25-46B0-BBE7-61526303D853}" type="pres">
      <dgm:prSet presAssocID="{4841D909-0ECA-47F1-B60F-CC10392949AD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E7C3065-1A91-422C-B2D3-35633DEBFA0A}" type="pres">
      <dgm:prSet presAssocID="{4841D909-0ECA-47F1-B60F-CC10392949AD}" presName="spaceRect" presStyleCnt="0"/>
      <dgm:spPr/>
    </dgm:pt>
    <dgm:pt modelId="{3D0B3615-2CD5-496A-BC99-DE4A243DE9BA}" type="pres">
      <dgm:prSet presAssocID="{4841D909-0ECA-47F1-B60F-CC10392949AD}" presName="textRect" presStyleLbl="revTx" presStyleIdx="4" presStyleCnt="6">
        <dgm:presLayoutVars>
          <dgm:chMax val="1"/>
          <dgm:chPref val="1"/>
        </dgm:presLayoutVars>
      </dgm:prSet>
      <dgm:spPr/>
    </dgm:pt>
    <dgm:pt modelId="{5D60E614-D225-4E91-A549-EEC05826BBEE}" type="pres">
      <dgm:prSet presAssocID="{130EC4CB-714D-4E1C-B7B5-16D8B46F6D8E}" presName="sibTrans" presStyleCnt="0"/>
      <dgm:spPr/>
    </dgm:pt>
    <dgm:pt modelId="{EC31F4B1-B870-4217-BFF2-48917C909CAC}" type="pres">
      <dgm:prSet presAssocID="{BE080DBF-1A07-4576-93F7-55277512753A}" presName="compNode" presStyleCnt="0"/>
      <dgm:spPr/>
    </dgm:pt>
    <dgm:pt modelId="{CD089A89-7A1F-471B-AE09-999296963FA3}" type="pres">
      <dgm:prSet presAssocID="{BE080DBF-1A07-4576-93F7-55277512753A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056CA989-856B-43AF-A529-9BEE2D5F3728}" type="pres">
      <dgm:prSet presAssocID="{BE080DBF-1A07-4576-93F7-55277512753A}" presName="spaceRect" presStyleCnt="0"/>
      <dgm:spPr/>
    </dgm:pt>
    <dgm:pt modelId="{DDE195DC-E6A4-4F62-9AD1-D43E0C9C96B4}" type="pres">
      <dgm:prSet presAssocID="{BE080DBF-1A07-4576-93F7-55277512753A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73763C07-AD96-42DF-9FDA-8A17F39D4D85}" srcId="{D7E5864B-8D14-4B36-89DD-680E3E8AFB94}" destId="{655F724C-0FE3-433C-AD56-1C856B8A5239}" srcOrd="0" destOrd="0" parTransId="{845E9E0A-3D1A-4E1F-B649-0E59E1060025}" sibTransId="{422A5CA8-CE36-4B86-8D06-67F613E86F81}"/>
    <dgm:cxn modelId="{8A3FEB0E-0B16-4FDE-AF53-96D4DE14BAC1}" srcId="{D7E5864B-8D14-4B36-89DD-680E3E8AFB94}" destId="{55B13F4C-1DC1-48ED-87D6-D6E64540F49B}" srcOrd="3" destOrd="0" parTransId="{C95743D1-5E53-436F-AD58-E5BC5DBB490A}" sibTransId="{32E52C9B-A439-4702-9B58-ACC8ACBF538D}"/>
    <dgm:cxn modelId="{2407F629-D3EA-4671-B84F-51D068237726}" srcId="{D7E5864B-8D14-4B36-89DD-680E3E8AFB94}" destId="{E9E9F1A1-5F54-4F5F-A8CA-3CC10706D776}" srcOrd="2" destOrd="0" parTransId="{FB8BFB87-65F9-4D7F-A25E-D1D84F04AAC7}" sibTransId="{E3BEEC16-E156-4E2E-908E-A6FA6F6E799E}"/>
    <dgm:cxn modelId="{81643F3A-1AA5-4A42-8F52-263236B90B5C}" srcId="{D7E5864B-8D14-4B36-89DD-680E3E8AFB94}" destId="{4841D909-0ECA-47F1-B60F-CC10392949AD}" srcOrd="4" destOrd="0" parTransId="{A7CD1A93-C9F9-47CE-93EB-5201E11A793D}" sibTransId="{130EC4CB-714D-4E1C-B7B5-16D8B46F6D8E}"/>
    <dgm:cxn modelId="{E861373C-0884-4B08-8A05-5977712D4AC6}" srcId="{D7E5864B-8D14-4B36-89DD-680E3E8AFB94}" destId="{ADAA5705-65BC-45DF-96AA-BAEC2ABC7FB9}" srcOrd="1" destOrd="0" parTransId="{3C391262-A41D-4E48-A8AB-DA8806EC25DC}" sibTransId="{CD7CD5A7-43B8-43D0-B905-670FC6DD3290}"/>
    <dgm:cxn modelId="{837E5B5A-6CF4-40B1-92ED-DAE7A7788CA5}" type="presOf" srcId="{55B13F4C-1DC1-48ED-87D6-D6E64540F49B}" destId="{414B806F-CFDD-4901-8D52-862E3CA26E50}" srcOrd="0" destOrd="0" presId="urn:microsoft.com/office/officeart/2018/2/layout/IconLabelList"/>
    <dgm:cxn modelId="{95095785-9EBA-4027-8EEF-C60465CF83DC}" type="presOf" srcId="{ADAA5705-65BC-45DF-96AA-BAEC2ABC7FB9}" destId="{8D039C46-DB95-453B-A120-9BD6217202A5}" srcOrd="0" destOrd="0" presId="urn:microsoft.com/office/officeart/2018/2/layout/IconLabelList"/>
    <dgm:cxn modelId="{30A03BA2-0B9B-408C-814E-2479A36698C3}" type="presOf" srcId="{4841D909-0ECA-47F1-B60F-CC10392949AD}" destId="{3D0B3615-2CD5-496A-BC99-DE4A243DE9BA}" srcOrd="0" destOrd="0" presId="urn:microsoft.com/office/officeart/2018/2/layout/IconLabelList"/>
    <dgm:cxn modelId="{3B1A0AA8-65FD-4093-B432-949ADF8D3AC7}" type="presOf" srcId="{BE080DBF-1A07-4576-93F7-55277512753A}" destId="{DDE195DC-E6A4-4F62-9AD1-D43E0C9C96B4}" srcOrd="0" destOrd="0" presId="urn:microsoft.com/office/officeart/2018/2/layout/IconLabelList"/>
    <dgm:cxn modelId="{B422EFD3-70CF-4883-A7CC-C33E917BC4A6}" srcId="{D7E5864B-8D14-4B36-89DD-680E3E8AFB94}" destId="{BE080DBF-1A07-4576-93F7-55277512753A}" srcOrd="5" destOrd="0" parTransId="{9C927B6E-BDD5-4F92-A92E-4CE52227AA74}" sibTransId="{34C30DFD-0D0D-41AE-AEF5-76F5EADD3709}"/>
    <dgm:cxn modelId="{A073CEDB-61F6-4D27-93A7-42DFDD900B43}" type="presOf" srcId="{D7E5864B-8D14-4B36-89DD-680E3E8AFB94}" destId="{989C3F12-1DE6-4B34-83FC-42455D24DC64}" srcOrd="0" destOrd="0" presId="urn:microsoft.com/office/officeart/2018/2/layout/IconLabelList"/>
    <dgm:cxn modelId="{BF3DA2E6-CCD8-40B1-B262-36525119D026}" type="presOf" srcId="{E9E9F1A1-5F54-4F5F-A8CA-3CC10706D776}" destId="{B04D4E1A-9E43-4766-BE67-38F98048B9C4}" srcOrd="0" destOrd="0" presId="urn:microsoft.com/office/officeart/2018/2/layout/IconLabelList"/>
    <dgm:cxn modelId="{AD75EAF2-4801-46CD-A9FA-912A9C727373}" type="presOf" srcId="{655F724C-0FE3-433C-AD56-1C856B8A5239}" destId="{1557FBA4-4C71-4185-BE01-539A645F79CC}" srcOrd="0" destOrd="0" presId="urn:microsoft.com/office/officeart/2018/2/layout/IconLabelList"/>
    <dgm:cxn modelId="{11DC6D0D-9AF8-4CCC-BDD4-A27565569564}" type="presParOf" srcId="{989C3F12-1DE6-4B34-83FC-42455D24DC64}" destId="{A9D239A2-D8D0-49CF-8AFC-DD6E5D4C31B6}" srcOrd="0" destOrd="0" presId="urn:microsoft.com/office/officeart/2018/2/layout/IconLabelList"/>
    <dgm:cxn modelId="{B6603E56-99C6-437C-84BF-AA85018C7965}" type="presParOf" srcId="{A9D239A2-D8D0-49CF-8AFC-DD6E5D4C31B6}" destId="{8C9ED2B8-5F0F-44D6-BB47-B52AA1070A65}" srcOrd="0" destOrd="0" presId="urn:microsoft.com/office/officeart/2018/2/layout/IconLabelList"/>
    <dgm:cxn modelId="{2FFD2A04-244F-4FF8-ADC3-FAEEC90F40C7}" type="presParOf" srcId="{A9D239A2-D8D0-49CF-8AFC-DD6E5D4C31B6}" destId="{AFD85991-1D28-4CA0-82B5-85ADEDFD21D8}" srcOrd="1" destOrd="0" presId="urn:microsoft.com/office/officeart/2018/2/layout/IconLabelList"/>
    <dgm:cxn modelId="{BCD73334-CB31-4CFC-BAF1-2823BE2EEAE4}" type="presParOf" srcId="{A9D239A2-D8D0-49CF-8AFC-DD6E5D4C31B6}" destId="{1557FBA4-4C71-4185-BE01-539A645F79CC}" srcOrd="2" destOrd="0" presId="urn:microsoft.com/office/officeart/2018/2/layout/IconLabelList"/>
    <dgm:cxn modelId="{0BBD95C4-B717-4A29-82EA-567F2982C0B2}" type="presParOf" srcId="{989C3F12-1DE6-4B34-83FC-42455D24DC64}" destId="{7B2F8A88-C3A8-43E8-981A-B7BCFB0577F0}" srcOrd="1" destOrd="0" presId="urn:microsoft.com/office/officeart/2018/2/layout/IconLabelList"/>
    <dgm:cxn modelId="{0B0BAE09-75AA-4E8F-8993-6222F2EDBCBE}" type="presParOf" srcId="{989C3F12-1DE6-4B34-83FC-42455D24DC64}" destId="{D1A1C142-852D-4D1E-8572-5A16722E0BD4}" srcOrd="2" destOrd="0" presId="urn:microsoft.com/office/officeart/2018/2/layout/IconLabelList"/>
    <dgm:cxn modelId="{90C1771D-04AA-4608-B384-024E1895B19B}" type="presParOf" srcId="{D1A1C142-852D-4D1E-8572-5A16722E0BD4}" destId="{748D82E9-9BB4-439A-B265-335B5C1C1506}" srcOrd="0" destOrd="0" presId="urn:microsoft.com/office/officeart/2018/2/layout/IconLabelList"/>
    <dgm:cxn modelId="{F04C8658-8762-44F7-B03A-9DDCBD91C75C}" type="presParOf" srcId="{D1A1C142-852D-4D1E-8572-5A16722E0BD4}" destId="{53373FD7-1C88-45E5-82D6-19FD0ECC520B}" srcOrd="1" destOrd="0" presId="urn:microsoft.com/office/officeart/2018/2/layout/IconLabelList"/>
    <dgm:cxn modelId="{9E3C73B6-F029-4BD4-B9EC-7D4F559FA7EC}" type="presParOf" srcId="{D1A1C142-852D-4D1E-8572-5A16722E0BD4}" destId="{8D039C46-DB95-453B-A120-9BD6217202A5}" srcOrd="2" destOrd="0" presId="urn:microsoft.com/office/officeart/2018/2/layout/IconLabelList"/>
    <dgm:cxn modelId="{6A26833A-F9BC-47C6-9464-8A20700BAF64}" type="presParOf" srcId="{989C3F12-1DE6-4B34-83FC-42455D24DC64}" destId="{B67AB8C9-4C56-4D55-947E-B352458068E0}" srcOrd="3" destOrd="0" presId="urn:microsoft.com/office/officeart/2018/2/layout/IconLabelList"/>
    <dgm:cxn modelId="{5BE5BB71-8A9F-4C14-B767-A7C2F9A72423}" type="presParOf" srcId="{989C3F12-1DE6-4B34-83FC-42455D24DC64}" destId="{99E3F4EC-AFB3-4E06-90A4-A99B4CCE9511}" srcOrd="4" destOrd="0" presId="urn:microsoft.com/office/officeart/2018/2/layout/IconLabelList"/>
    <dgm:cxn modelId="{3A868543-5304-4E4B-A11A-5E32DF2E4AF2}" type="presParOf" srcId="{99E3F4EC-AFB3-4E06-90A4-A99B4CCE9511}" destId="{B6F205E8-8DD2-4F29-B9D6-37E66D1FC58F}" srcOrd="0" destOrd="0" presId="urn:microsoft.com/office/officeart/2018/2/layout/IconLabelList"/>
    <dgm:cxn modelId="{4A5A606E-5B53-4E0F-8AA8-57D9CB31DD6A}" type="presParOf" srcId="{99E3F4EC-AFB3-4E06-90A4-A99B4CCE9511}" destId="{34E05C53-073D-4938-85BE-86CA894B610E}" srcOrd="1" destOrd="0" presId="urn:microsoft.com/office/officeart/2018/2/layout/IconLabelList"/>
    <dgm:cxn modelId="{224F13E8-0CF7-4B61-AA7B-68CFB18DB744}" type="presParOf" srcId="{99E3F4EC-AFB3-4E06-90A4-A99B4CCE9511}" destId="{B04D4E1A-9E43-4766-BE67-38F98048B9C4}" srcOrd="2" destOrd="0" presId="urn:microsoft.com/office/officeart/2018/2/layout/IconLabelList"/>
    <dgm:cxn modelId="{2B1C685C-3B62-427A-B52B-A399DAE3B990}" type="presParOf" srcId="{989C3F12-1DE6-4B34-83FC-42455D24DC64}" destId="{E950B444-3E44-4CE1-AD1D-75DA7588D22A}" srcOrd="5" destOrd="0" presId="urn:microsoft.com/office/officeart/2018/2/layout/IconLabelList"/>
    <dgm:cxn modelId="{753328B2-33B4-4D63-8A24-3E9D6E09AD2E}" type="presParOf" srcId="{989C3F12-1DE6-4B34-83FC-42455D24DC64}" destId="{B1C7748F-D882-4E4B-9EBF-B3CC22E53258}" srcOrd="6" destOrd="0" presId="urn:microsoft.com/office/officeart/2018/2/layout/IconLabelList"/>
    <dgm:cxn modelId="{40D5A600-1170-4463-BAE5-56C229DBBD47}" type="presParOf" srcId="{B1C7748F-D882-4E4B-9EBF-B3CC22E53258}" destId="{00F88EDF-63E8-4E09-8E2E-8B7137800330}" srcOrd="0" destOrd="0" presId="urn:microsoft.com/office/officeart/2018/2/layout/IconLabelList"/>
    <dgm:cxn modelId="{A5F21BD6-D1DE-4539-B2DC-31D12C4FBBF3}" type="presParOf" srcId="{B1C7748F-D882-4E4B-9EBF-B3CC22E53258}" destId="{849D82F4-6709-4AE7-B4DD-083B891442E8}" srcOrd="1" destOrd="0" presId="urn:microsoft.com/office/officeart/2018/2/layout/IconLabelList"/>
    <dgm:cxn modelId="{4A339E65-64B2-4D93-ACE2-D2D4C520909F}" type="presParOf" srcId="{B1C7748F-D882-4E4B-9EBF-B3CC22E53258}" destId="{414B806F-CFDD-4901-8D52-862E3CA26E50}" srcOrd="2" destOrd="0" presId="urn:microsoft.com/office/officeart/2018/2/layout/IconLabelList"/>
    <dgm:cxn modelId="{4457C01E-874C-45D5-ADCE-C12514FA352C}" type="presParOf" srcId="{989C3F12-1DE6-4B34-83FC-42455D24DC64}" destId="{EDFA6C46-68DE-4F4E-8BD5-DBFCB259C7D5}" srcOrd="7" destOrd="0" presId="urn:microsoft.com/office/officeart/2018/2/layout/IconLabelList"/>
    <dgm:cxn modelId="{AA6A617A-581E-4487-A200-C083EBB79265}" type="presParOf" srcId="{989C3F12-1DE6-4B34-83FC-42455D24DC64}" destId="{39F721D3-1955-4E6D-8423-4CEB78BA2E93}" srcOrd="8" destOrd="0" presId="urn:microsoft.com/office/officeart/2018/2/layout/IconLabelList"/>
    <dgm:cxn modelId="{ECA74DBE-6684-4F27-A0BB-92D008C3CF19}" type="presParOf" srcId="{39F721D3-1955-4E6D-8423-4CEB78BA2E93}" destId="{D185AC82-5F25-46B0-BBE7-61526303D853}" srcOrd="0" destOrd="0" presId="urn:microsoft.com/office/officeart/2018/2/layout/IconLabelList"/>
    <dgm:cxn modelId="{07FB7A03-C25E-4B6B-99B5-3AB671B7DF81}" type="presParOf" srcId="{39F721D3-1955-4E6D-8423-4CEB78BA2E93}" destId="{5E7C3065-1A91-422C-B2D3-35633DEBFA0A}" srcOrd="1" destOrd="0" presId="urn:microsoft.com/office/officeart/2018/2/layout/IconLabelList"/>
    <dgm:cxn modelId="{CAD0C802-61B2-430D-B41F-EA1A697E4B3B}" type="presParOf" srcId="{39F721D3-1955-4E6D-8423-4CEB78BA2E93}" destId="{3D0B3615-2CD5-496A-BC99-DE4A243DE9BA}" srcOrd="2" destOrd="0" presId="urn:microsoft.com/office/officeart/2018/2/layout/IconLabelList"/>
    <dgm:cxn modelId="{AEA97288-54F5-470E-87E8-22F4B9FBE992}" type="presParOf" srcId="{989C3F12-1DE6-4B34-83FC-42455D24DC64}" destId="{5D60E614-D225-4E91-A549-EEC05826BBEE}" srcOrd="9" destOrd="0" presId="urn:microsoft.com/office/officeart/2018/2/layout/IconLabelList"/>
    <dgm:cxn modelId="{58684883-00F0-405F-AA0A-F4341B571490}" type="presParOf" srcId="{989C3F12-1DE6-4B34-83FC-42455D24DC64}" destId="{EC31F4B1-B870-4217-BFF2-48917C909CAC}" srcOrd="10" destOrd="0" presId="urn:microsoft.com/office/officeart/2018/2/layout/IconLabelList"/>
    <dgm:cxn modelId="{65520542-8F8D-451B-968B-6DAE8A95726C}" type="presParOf" srcId="{EC31F4B1-B870-4217-BFF2-48917C909CAC}" destId="{CD089A89-7A1F-471B-AE09-999296963FA3}" srcOrd="0" destOrd="0" presId="urn:microsoft.com/office/officeart/2018/2/layout/IconLabelList"/>
    <dgm:cxn modelId="{750706E4-0CC6-4B16-B2E6-8DC885BBA69D}" type="presParOf" srcId="{EC31F4B1-B870-4217-BFF2-48917C909CAC}" destId="{056CA989-856B-43AF-A529-9BEE2D5F3728}" srcOrd="1" destOrd="0" presId="urn:microsoft.com/office/officeart/2018/2/layout/IconLabelList"/>
    <dgm:cxn modelId="{E81695E6-5629-4060-931D-8BB214BED000}" type="presParOf" srcId="{EC31F4B1-B870-4217-BFF2-48917C909CAC}" destId="{DDE195DC-E6A4-4F62-9AD1-D43E0C9C96B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9ED2B8-5F0F-44D6-BB47-B52AA1070A65}">
      <dsp:nvSpPr>
        <dsp:cNvPr id="0" name=""/>
        <dsp:cNvSpPr/>
      </dsp:nvSpPr>
      <dsp:spPr>
        <a:xfrm>
          <a:off x="404043" y="1226439"/>
          <a:ext cx="658125" cy="65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57FBA4-4C71-4185-BE01-539A645F79CC}">
      <dsp:nvSpPr>
        <dsp:cNvPr id="0" name=""/>
        <dsp:cNvSpPr/>
      </dsp:nvSpPr>
      <dsp:spPr>
        <a:xfrm>
          <a:off x="1856" y="2120480"/>
          <a:ext cx="1462500" cy="58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 Local deployment only; no public production URL</a:t>
          </a:r>
        </a:p>
      </dsp:txBody>
      <dsp:txXfrm>
        <a:off x="1856" y="2120480"/>
        <a:ext cx="1462500" cy="585000"/>
      </dsp:txXfrm>
    </dsp:sp>
    <dsp:sp modelId="{748D82E9-9BB4-439A-B265-335B5C1C1506}">
      <dsp:nvSpPr>
        <dsp:cNvPr id="0" name=""/>
        <dsp:cNvSpPr/>
      </dsp:nvSpPr>
      <dsp:spPr>
        <a:xfrm>
          <a:off x="2122481" y="1226439"/>
          <a:ext cx="658125" cy="65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039C46-DB95-453B-A120-9BD6217202A5}">
      <dsp:nvSpPr>
        <dsp:cNvPr id="0" name=""/>
        <dsp:cNvSpPr/>
      </dsp:nvSpPr>
      <dsp:spPr>
        <a:xfrm>
          <a:off x="1720293" y="2120480"/>
          <a:ext cx="1462500" cy="58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 Grounded Ask requires an indexed corpus plus configured OpenAI or Ollama provider</a:t>
          </a:r>
        </a:p>
      </dsp:txBody>
      <dsp:txXfrm>
        <a:off x="1720293" y="2120480"/>
        <a:ext cx="1462500" cy="585000"/>
      </dsp:txXfrm>
    </dsp:sp>
    <dsp:sp modelId="{B6F205E8-8DD2-4F29-B9D6-37E66D1FC58F}">
      <dsp:nvSpPr>
        <dsp:cNvPr id="0" name=""/>
        <dsp:cNvSpPr/>
      </dsp:nvSpPr>
      <dsp:spPr>
        <a:xfrm>
          <a:off x="3840918" y="1226439"/>
          <a:ext cx="658125" cy="65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4D4E1A-9E43-4766-BE67-38F98048B9C4}">
      <dsp:nvSpPr>
        <dsp:cNvPr id="0" name=""/>
        <dsp:cNvSpPr/>
      </dsp:nvSpPr>
      <dsp:spPr>
        <a:xfrm>
          <a:off x="3438731" y="2120480"/>
          <a:ext cx="1462500" cy="58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 Scientific outputs still require human review</a:t>
          </a:r>
        </a:p>
      </dsp:txBody>
      <dsp:txXfrm>
        <a:off x="3438731" y="2120480"/>
        <a:ext cx="1462500" cy="585000"/>
      </dsp:txXfrm>
    </dsp:sp>
    <dsp:sp modelId="{00F88EDF-63E8-4E09-8E2E-8B7137800330}">
      <dsp:nvSpPr>
        <dsp:cNvPr id="0" name=""/>
        <dsp:cNvSpPr/>
      </dsp:nvSpPr>
      <dsp:spPr>
        <a:xfrm>
          <a:off x="5559356" y="1226439"/>
          <a:ext cx="658125" cy="65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4B806F-CFDD-4901-8D52-862E3CA26E50}">
      <dsp:nvSpPr>
        <dsp:cNvPr id="0" name=""/>
        <dsp:cNvSpPr/>
      </dsp:nvSpPr>
      <dsp:spPr>
        <a:xfrm>
          <a:off x="5157168" y="2120480"/>
          <a:ext cx="1462500" cy="58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 Corpus focuses on microgravity and skeletal muscle</a:t>
          </a:r>
        </a:p>
      </dsp:txBody>
      <dsp:txXfrm>
        <a:off x="5157168" y="2120480"/>
        <a:ext cx="1462500" cy="585000"/>
      </dsp:txXfrm>
    </dsp:sp>
    <dsp:sp modelId="{D185AC82-5F25-46B0-BBE7-61526303D853}">
      <dsp:nvSpPr>
        <dsp:cNvPr id="0" name=""/>
        <dsp:cNvSpPr/>
      </dsp:nvSpPr>
      <dsp:spPr>
        <a:xfrm>
          <a:off x="7277793" y="1226439"/>
          <a:ext cx="658125" cy="65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0B3615-2CD5-496A-BC99-DE4A243DE9BA}">
      <dsp:nvSpPr>
        <dsp:cNvPr id="0" name=""/>
        <dsp:cNvSpPr/>
      </dsp:nvSpPr>
      <dsp:spPr>
        <a:xfrm>
          <a:off x="6875606" y="2120480"/>
          <a:ext cx="1462500" cy="58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 Future: stronger retrieval benchmarks, broader curated corpus, reviewer workflow, and production deployment</a:t>
          </a:r>
        </a:p>
      </dsp:txBody>
      <dsp:txXfrm>
        <a:off x="6875606" y="2120480"/>
        <a:ext cx="1462500" cy="585000"/>
      </dsp:txXfrm>
    </dsp:sp>
    <dsp:sp modelId="{CD089A89-7A1F-471B-AE09-999296963FA3}">
      <dsp:nvSpPr>
        <dsp:cNvPr id="0" name=""/>
        <dsp:cNvSpPr/>
      </dsp:nvSpPr>
      <dsp:spPr>
        <a:xfrm>
          <a:off x="8996231" y="1226439"/>
          <a:ext cx="658125" cy="65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E195DC-E6A4-4F62-9AD1-D43E0C9C96B4}">
      <dsp:nvSpPr>
        <dsp:cNvPr id="0" name=""/>
        <dsp:cNvSpPr/>
      </dsp:nvSpPr>
      <dsp:spPr>
        <a:xfrm>
          <a:off x="8594043" y="2120480"/>
          <a:ext cx="1462500" cy="58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 Graph extraction remains experimental; no graph database in the MVP</a:t>
          </a:r>
        </a:p>
      </dsp:txBody>
      <dsp:txXfrm>
        <a:off x="8594043" y="2120480"/>
        <a:ext cx="1462500" cy="58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0795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the core problem is not access to a language model. It is evidence discovery with scientific provenance and explicit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controlled corpus and fail-closed approach. Stress that the system does not silently fall back to general model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the data flow left to right. The same provenance fields survive extraction, retrieval, answer generation, and citation display.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the Ask form. Explain that every answer claim should map to a retrieved citation and that unsupported generation is rejected.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that users can inspect the approved corpus and open individual publication metadata, DOI, license, organism, exposure, and ingest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semantic/keyword search and the compare workspace. Comparison is metadata-based and deliberately does not invent cross-study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 the AI stack and safeguards. Keep the distinction clear: retrieval identifies evidence; generation summarizes only what retrieval supports.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measurable engineering results. Avoid claiming scientific accuracy beyond the available evaluation fixtures and human review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live-demo sequence and backup plan. The student has already notified the program that he will not participate in the live final showcase presentation; these artifacts support evaluation and handoff.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candid about limitations. Emphasize that local-first deployment and a controlled topic were conscious scope decisions, not hidden gaps.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ro-atmosphere.png">
            <a:extLst>
              <a:ext uri="{FF2B5EF4-FFF2-40B4-BE49-F238E27FC236}">
                <a16:creationId xmlns:a16="http://schemas.microsoft.com/office/drawing/2014/main" id="{8A9097BF-3F2E-92F7-7FB2-6663ED7C7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6060"/>
            <a:ext cx="12192000" cy="5751940"/>
          </a:xfrm>
          <a:prstGeom prst="rect">
            <a:avLst/>
          </a:prstGeom>
        </p:spPr>
      </p:pic>
      <p:pic>
        <p:nvPicPr>
          <p:cNvPr id="3" name="Picture 2" descr="logo-wordmark.png">
            <a:extLst>
              <a:ext uri="{FF2B5EF4-FFF2-40B4-BE49-F238E27FC236}">
                <a16:creationId xmlns:a16="http://schemas.microsoft.com/office/drawing/2014/main" id="{2AD057C0-A077-8FAC-2CA3-6045656E0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474"/>
            <a:ext cx="3291840" cy="10291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934F98-5C9C-92FB-714F-281ADAAAC473}"/>
              </a:ext>
            </a:extLst>
          </p:cNvPr>
          <p:cNvSpPr txBox="1"/>
          <p:nvPr/>
        </p:nvSpPr>
        <p:spPr>
          <a:xfrm>
            <a:off x="777240" y="18288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Space Biology</a:t>
            </a:r>
            <a:br/>
            <a:r>
              <a:t>Evidence Engine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9C2DA2-98A7-65C9-6DBD-A1370885F7B8}"/>
              </a:ext>
            </a:extLst>
          </p:cNvPr>
          <p:cNvSpPr txBox="1"/>
          <p:nvPr/>
        </p:nvSpPr>
        <p:spPr>
          <a:xfrm>
            <a:off x="822960" y="3401568"/>
            <a:ext cx="255161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BEE2EB"/>
                </a:solidFill>
                <a:latin typeface="Aptos"/>
              </a:defRPr>
            </a:pPr>
            <a:r>
              <a:rPr dirty="0"/>
              <a:t>Citation-first research synthesis from a controlled corpus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F7343E-689B-A844-6C2D-F234D31D7F7A}"/>
              </a:ext>
            </a:extLst>
          </p:cNvPr>
          <p:cNvSpPr txBox="1"/>
          <p:nvPr/>
        </p:nvSpPr>
        <p:spPr>
          <a:xfrm>
            <a:off x="822960" y="5303520"/>
            <a:ext cx="5303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ptos"/>
              </a:defRPr>
            </a:pPr>
            <a:r>
              <a:t>John Hernandez  |  jherna65@fau.edu</a:t>
            </a:r>
            <a:br/>
            <a:r>
              <a:t>FAU AI HootCamp  |  Final Project 2026</a:t>
            </a:r>
          </a:p>
        </p:txBody>
      </p:sp>
    </p:spTree>
    <p:extLst>
      <p:ext uri="{BB962C8B-B14F-4D97-AF65-F5344CB8AC3E}">
        <p14:creationId xmlns:p14="http://schemas.microsoft.com/office/powerpoint/2010/main" val="3088137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8229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41839"/>
                </a:solidFill>
                <a:latin typeface="Aptos Display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087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95B74"/>
                </a:solidFill>
                <a:latin typeface="Aptos"/>
              </a:defRPr>
            </a:pPr>
            <a:r>
              <a:t>Space biology evidence is fragmented and difficult to synthesize safely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3383280" cy="1920240"/>
          </a:xfrm>
          <a:prstGeom prst="roundRect">
            <a:avLst/>
          </a:prstGeom>
          <a:solidFill>
            <a:srgbClr val="EFF8FC"/>
          </a:solidFill>
          <a:ln w="19050">
            <a:solidFill>
              <a:srgbClr val="27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041839"/>
                </a:solidFill>
                <a:latin typeface="Aptos Display"/>
              </a:defRPr>
            </a:pPr>
            <a:r>
              <a:t>Scattered evidence</a:t>
            </a:r>
          </a:p>
          <a:p>
            <a:pPr>
              <a:spcBef>
                <a:spcPts val="500"/>
              </a:spcBef>
              <a:defRPr sz="1200">
                <a:solidFill>
                  <a:srgbClr val="495B74"/>
                </a:solidFill>
                <a:latin typeface="Aptos"/>
              </a:defRPr>
            </a:pPr>
            <a:r>
              <a:t>Relevant studies span publishers, organisms, experimental models, and terminology.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194560"/>
            <a:ext cx="3383280" cy="1920240"/>
          </a:xfrm>
          <a:prstGeom prst="roundRect">
            <a:avLst/>
          </a:prstGeom>
          <a:solidFill>
            <a:srgbClr val="EFF8FC"/>
          </a:solidFill>
          <a:ln w="19050">
            <a:solidFill>
              <a:srgbClr val="DCA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041839"/>
                </a:solidFill>
                <a:latin typeface="Aptos Display"/>
              </a:defRPr>
            </a:pPr>
            <a:r>
              <a:t>High trust bar</a:t>
            </a:r>
          </a:p>
          <a:p>
            <a:pPr>
              <a:spcBef>
                <a:spcPts val="500"/>
              </a:spcBef>
              <a:defRPr sz="1200">
                <a:solidFill>
                  <a:srgbClr val="495B74"/>
                </a:solidFill>
                <a:latin typeface="Aptos"/>
              </a:defRPr>
            </a:pPr>
            <a:r>
              <a:t>Scientific users need passage-level provenance, not unsupported model recall.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194560"/>
            <a:ext cx="3383280" cy="1920240"/>
          </a:xfrm>
          <a:prstGeom prst="roundRect">
            <a:avLst/>
          </a:prstGeom>
          <a:solidFill>
            <a:srgbClr val="EFF8FC"/>
          </a:solidFill>
          <a:ln w="19050">
            <a:solidFill>
              <a:srgbClr val="006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041839"/>
                </a:solidFill>
                <a:latin typeface="Aptos Display"/>
              </a:defRPr>
            </a:pPr>
            <a:r>
              <a:t>Slow comparison</a:t>
            </a:r>
          </a:p>
          <a:p>
            <a:pPr>
              <a:spcBef>
                <a:spcPts val="500"/>
              </a:spcBef>
              <a:defRPr sz="1200">
                <a:solidFill>
                  <a:srgbClr val="495B74"/>
                </a:solidFill>
                <a:latin typeface="Aptos"/>
              </a:defRPr>
            </a:pPr>
            <a:r>
              <a:t>Researchers repeatedly search, read, and reconcile study context by hand.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617720"/>
            <a:ext cx="10058400" cy="7315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41839"/>
                </a:solidFill>
                <a:latin typeface="Aptos"/>
              </a:defRPr>
            </a:pPr>
            <a:r>
              <a:t>•  Primary users: space-biology researchers, students, educators, and corpus maintainers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95B74"/>
                </a:solidFill>
                <a:latin typeface="Aptos"/>
              </a:defRPr>
            </a:pPr>
            <a:r>
              <a:t>Space Biology Evidence Engine  |  John Hernandez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8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ero-atmosphere.png">
            <a:extLst>
              <a:ext uri="{FF2B5EF4-FFF2-40B4-BE49-F238E27FC236}">
                <a16:creationId xmlns:a16="http://schemas.microsoft.com/office/drawing/2014/main" id="{77A83B27-ABAB-96C5-7E4B-F6DC8CD05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229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087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2E2EE"/>
                </a:solidFill>
                <a:latin typeface="Aptos"/>
              </a:defRPr>
            </a:pPr>
            <a:r>
              <a:t>A controlled, provenance-preserving evidence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846320" cy="3474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23 owner-approved open-access publications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Semantic + keyword retrieval over indexed passages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Grounded answers with passage-level citations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Explicit insufficient-evidence responses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Local-first operation with optional OpenAI or Ollama generation</a:t>
            </a:r>
          </a:p>
        </p:txBody>
      </p:sp>
      <p:pic>
        <p:nvPicPr>
          <p:cNvPr id="8" name="Picture 7" descr="01-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9454" y="1700784"/>
            <a:ext cx="5577840" cy="387705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9" name="TextBox 8"/>
          <p:cNvSpPr txBox="1"/>
          <p:nvPr/>
        </p:nvSpPr>
        <p:spPr>
          <a:xfrm>
            <a:off x="64008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4D2E1"/>
                </a:solidFill>
                <a:latin typeface="Aptos"/>
              </a:defRPr>
            </a:pPr>
            <a:r>
              <a:t>Space Biology Evidence Engine  |  John Hernandez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8229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41839"/>
                </a:solidFill>
                <a:latin typeface="Aptos Display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087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95B74"/>
                </a:solidFill>
                <a:latin typeface="Aptos"/>
              </a:defRPr>
            </a:pPr>
            <a:r>
              <a:t>Retrieval and generation remain independently testable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31720"/>
            <a:ext cx="1965960" cy="1508760"/>
          </a:xfrm>
          <a:prstGeom prst="roundRect">
            <a:avLst/>
          </a:prstGeom>
          <a:solidFill>
            <a:srgbClr val="EFF8FC"/>
          </a:solidFill>
          <a:ln w="19050">
            <a:solidFill>
              <a:srgbClr val="27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041839"/>
                </a:solidFill>
                <a:latin typeface="Aptos Display"/>
              </a:defRPr>
            </a:pPr>
            <a:r>
              <a:t>Approved PDFs</a:t>
            </a:r>
          </a:p>
          <a:p>
            <a:pPr>
              <a:spcBef>
                <a:spcPts val="500"/>
              </a:spcBef>
              <a:defRPr sz="1200">
                <a:solidFill>
                  <a:srgbClr val="495B74"/>
                </a:solidFill>
                <a:latin typeface="Aptos"/>
              </a:defRPr>
            </a:pPr>
            <a:r>
              <a:t>License + quality checks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87168" y="2852928"/>
            <a:ext cx="292608" cy="320040"/>
          </a:xfrm>
          <a:prstGeom prst="rightArrow">
            <a:avLst/>
          </a:prstGeom>
          <a:solidFill>
            <a:srgbClr val="006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34639" y="2331720"/>
            <a:ext cx="1965960" cy="1508760"/>
          </a:xfrm>
          <a:prstGeom prst="roundRect">
            <a:avLst/>
          </a:prstGeom>
          <a:solidFill>
            <a:srgbClr val="EFF8FC"/>
          </a:solidFill>
          <a:ln w="19050">
            <a:solidFill>
              <a:srgbClr val="27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041839"/>
                </a:solidFill>
                <a:latin typeface="Aptos Display"/>
              </a:defRPr>
            </a:pPr>
            <a:r>
              <a:t>Ingest</a:t>
            </a:r>
          </a:p>
          <a:p>
            <a:pPr>
              <a:spcBef>
                <a:spcPts val="500"/>
              </a:spcBef>
              <a:defRPr sz="1200">
                <a:solidFill>
                  <a:srgbClr val="495B74"/>
                </a:solidFill>
                <a:latin typeface="Aptos"/>
              </a:defRPr>
            </a:pPr>
            <a:r>
              <a:t>Extract → chunk → embed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18888" y="2852928"/>
            <a:ext cx="292608" cy="320040"/>
          </a:xfrm>
          <a:prstGeom prst="rightArrow">
            <a:avLst/>
          </a:prstGeom>
          <a:solidFill>
            <a:srgbClr val="006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66359" y="2331720"/>
            <a:ext cx="1965960" cy="1508760"/>
          </a:xfrm>
          <a:prstGeom prst="roundRect">
            <a:avLst/>
          </a:prstGeom>
          <a:solidFill>
            <a:srgbClr val="EFF8FC"/>
          </a:solidFill>
          <a:ln w="19050">
            <a:solidFill>
              <a:srgbClr val="27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041839"/>
                </a:solidFill>
                <a:latin typeface="Aptos Display"/>
              </a:defRPr>
            </a:pPr>
            <a:r>
              <a:t>Postgres + pgvector</a:t>
            </a:r>
          </a:p>
          <a:p>
            <a:pPr>
              <a:spcBef>
                <a:spcPts val="500"/>
              </a:spcBef>
              <a:defRPr sz="1200">
                <a:solidFill>
                  <a:srgbClr val="495B74"/>
                </a:solidFill>
                <a:latin typeface="Aptos"/>
              </a:defRPr>
            </a:pPr>
            <a:r>
              <a:t>Metadata + vectors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50607" y="2852928"/>
            <a:ext cx="292608" cy="320040"/>
          </a:xfrm>
          <a:prstGeom prst="rightArrow">
            <a:avLst/>
          </a:prstGeom>
          <a:solidFill>
            <a:srgbClr val="006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98079" y="2331720"/>
            <a:ext cx="1965960" cy="1508760"/>
          </a:xfrm>
          <a:prstGeom prst="roundRect">
            <a:avLst/>
          </a:prstGeom>
          <a:solidFill>
            <a:srgbClr val="EFF8FC"/>
          </a:solidFill>
          <a:ln w="19050">
            <a:solidFill>
              <a:srgbClr val="27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041839"/>
                </a:solidFill>
                <a:latin typeface="Aptos Display"/>
              </a:defRPr>
            </a:pPr>
            <a:r>
              <a:t>Hybrid retrieval</a:t>
            </a:r>
          </a:p>
          <a:p>
            <a:pPr>
              <a:spcBef>
                <a:spcPts val="500"/>
              </a:spcBef>
              <a:defRPr sz="1200">
                <a:solidFill>
                  <a:srgbClr val="495B74"/>
                </a:solidFill>
                <a:latin typeface="Aptos"/>
              </a:defRPr>
            </a:pPr>
            <a:r>
              <a:t>Semantic + full-text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482328" y="2852928"/>
            <a:ext cx="292608" cy="320040"/>
          </a:xfrm>
          <a:prstGeom prst="rightArrow">
            <a:avLst/>
          </a:prstGeom>
          <a:solidFill>
            <a:srgbClr val="006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29800" y="2331720"/>
            <a:ext cx="1965960" cy="1508760"/>
          </a:xfrm>
          <a:prstGeom prst="roundRect">
            <a:avLst/>
          </a:prstGeom>
          <a:solidFill>
            <a:srgbClr val="EFF8FC"/>
          </a:solidFill>
          <a:ln w="19050">
            <a:solidFill>
              <a:srgbClr val="DCA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041839"/>
                </a:solidFill>
                <a:latin typeface="Aptos Display"/>
              </a:defRPr>
            </a:pPr>
            <a:r>
              <a:t>Grounded answer</a:t>
            </a:r>
          </a:p>
          <a:p>
            <a:pPr>
              <a:spcBef>
                <a:spcPts val="500"/>
              </a:spcBef>
              <a:defRPr sz="1200">
                <a:solidFill>
                  <a:srgbClr val="495B74"/>
                </a:solidFill>
                <a:latin typeface="Aptos"/>
              </a:defRPr>
            </a:pPr>
            <a:r>
              <a:t>Citation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526280"/>
            <a:ext cx="1051560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41839"/>
                </a:solidFill>
                <a:latin typeface="Aptos"/>
              </a:defRPr>
            </a:pPr>
            <a:r>
              <a:t>•  Next.js frontend</a:t>
            </a:r>
          </a:p>
          <a:p>
            <a:pPr>
              <a:spcAft>
                <a:spcPts val="1200"/>
              </a:spcAft>
              <a:defRPr sz="1600">
                <a:solidFill>
                  <a:srgbClr val="041839"/>
                </a:solidFill>
                <a:latin typeface="Aptos"/>
              </a:defRPr>
            </a:pPr>
            <a:r>
              <a:t>•  FastAPI API</a:t>
            </a:r>
          </a:p>
          <a:p>
            <a:pPr>
              <a:spcAft>
                <a:spcPts val="1200"/>
              </a:spcAft>
              <a:defRPr sz="1600">
                <a:solidFill>
                  <a:srgbClr val="041839"/>
                </a:solidFill>
                <a:latin typeface="Aptos"/>
              </a:defRPr>
            </a:pPr>
            <a:r>
              <a:t>•  SQLAlchemy + Alembic</a:t>
            </a:r>
          </a:p>
          <a:p>
            <a:pPr>
              <a:spcAft>
                <a:spcPts val="1200"/>
              </a:spcAft>
              <a:defRPr sz="1600">
                <a:solidFill>
                  <a:srgbClr val="041839"/>
                </a:solidFill>
                <a:latin typeface="Aptos"/>
              </a:defRPr>
            </a:pPr>
            <a:r>
              <a:t>•  Local embeddings</a:t>
            </a:r>
          </a:p>
          <a:p>
            <a:pPr>
              <a:spcAft>
                <a:spcPts val="1200"/>
              </a:spcAft>
              <a:defRPr sz="1600">
                <a:solidFill>
                  <a:srgbClr val="041839"/>
                </a:solidFill>
                <a:latin typeface="Aptos"/>
              </a:defRPr>
            </a:pPr>
            <a:r>
              <a:t>•  Provider-neutral LLM 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95B74"/>
                </a:solidFill>
                <a:latin typeface="Aptos"/>
              </a:defRPr>
            </a:pPr>
            <a:r>
              <a:t>Space Biology Evidence Engine  |  John Hernandez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8229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41839"/>
                </a:solidFill>
                <a:latin typeface="Aptos Display"/>
              </a:defRPr>
            </a:pPr>
            <a:r>
              <a:t>Grounded question answering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087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95B74"/>
                </a:solidFill>
                <a:latin typeface="Aptos"/>
              </a:defRPr>
            </a:pPr>
            <a:r>
              <a:t>Answers are constrained to retrieved corpus passages</a:t>
            </a:r>
          </a:p>
        </p:txBody>
      </p:sp>
      <p:pic>
        <p:nvPicPr>
          <p:cNvPr id="5" name="Picture 4" descr="02-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74519"/>
            <a:ext cx="6400800" cy="444398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6" name="Rounded Rectangle 5"/>
          <p:cNvSpPr/>
          <p:nvPr/>
        </p:nvSpPr>
        <p:spPr>
          <a:xfrm>
            <a:off x="7360920" y="2057400"/>
            <a:ext cx="4114800" cy="1417320"/>
          </a:xfrm>
          <a:prstGeom prst="roundRect">
            <a:avLst/>
          </a:prstGeom>
          <a:solidFill>
            <a:srgbClr val="EFF8FC"/>
          </a:solidFill>
          <a:ln w="19050">
            <a:solidFill>
              <a:srgbClr val="27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041839"/>
                </a:solidFill>
                <a:latin typeface="Aptos Display"/>
              </a:defRPr>
            </a:pPr>
            <a:r>
              <a:t>Evidence sufficiency</a:t>
            </a:r>
          </a:p>
          <a:p>
            <a:pPr>
              <a:spcBef>
                <a:spcPts val="500"/>
              </a:spcBef>
              <a:defRPr sz="1200">
                <a:solidFill>
                  <a:srgbClr val="495B74"/>
                </a:solidFill>
                <a:latin typeface="Aptos"/>
              </a:defRPr>
            </a:pPr>
            <a:r>
              <a:t>Weak or empty retrieval returns a fixed insufficient-evidence response without invoking the LLM.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3703320"/>
            <a:ext cx="4114800" cy="1417320"/>
          </a:xfrm>
          <a:prstGeom prst="roundRect">
            <a:avLst/>
          </a:prstGeom>
          <a:solidFill>
            <a:srgbClr val="EFF8FC"/>
          </a:solidFill>
          <a:ln w="19050">
            <a:solidFill>
              <a:srgbClr val="DCA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041839"/>
                </a:solidFill>
                <a:latin typeface="Aptos Display"/>
              </a:defRPr>
            </a:pPr>
            <a:r>
              <a:t>Citation validation</a:t>
            </a:r>
          </a:p>
          <a:p>
            <a:pPr>
              <a:spcBef>
                <a:spcPts val="500"/>
              </a:spcBef>
              <a:defRPr sz="1200">
                <a:solidFill>
                  <a:srgbClr val="495B74"/>
                </a:solidFill>
                <a:latin typeface="Aptos"/>
              </a:defRPr>
            </a:pPr>
            <a:r>
              <a:t>Unknown, missing, or invented citation markers fail closed instead of becoming successful answers.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95B74"/>
                </a:solidFill>
                <a:latin typeface="Aptos"/>
              </a:defRPr>
            </a:pPr>
            <a:r>
              <a:t>Space Biology Evidence Engine  |  John Hernandez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8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ero-atmosphere.png">
            <a:extLst>
              <a:ext uri="{FF2B5EF4-FFF2-40B4-BE49-F238E27FC236}">
                <a16:creationId xmlns:a16="http://schemas.microsoft.com/office/drawing/2014/main" id="{78A0A8EB-E8DF-F3D1-A7C6-EAD57B795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52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229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Controlled corpus and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087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2E2EE"/>
                </a:solidFill>
                <a:latin typeface="Aptos"/>
              </a:defRPr>
            </a:pPr>
            <a:r>
              <a:t>Inventory visibility makes the evidence boundary explicit</a:t>
            </a:r>
          </a:p>
        </p:txBody>
      </p:sp>
      <p:pic>
        <p:nvPicPr>
          <p:cNvPr id="7" name="Picture 6" descr="04-corp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" y="2057400"/>
            <a:ext cx="6649517" cy="43434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9" name="Picture 8" descr="06-public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2054684"/>
            <a:ext cx="4160520" cy="430039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0" name="TextBox 9"/>
          <p:cNvSpPr txBox="1"/>
          <p:nvPr/>
        </p:nvSpPr>
        <p:spPr>
          <a:xfrm>
            <a:off x="64008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4D2E1"/>
                </a:solidFill>
                <a:latin typeface="Aptos"/>
              </a:defRPr>
            </a:pPr>
            <a:r>
              <a:t>Space Biology Evidence Engine  |  John Hernandez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8229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41839"/>
                </a:solidFill>
                <a:latin typeface="Aptos Display"/>
              </a:defRPr>
            </a:pPr>
            <a:r>
              <a:t>Search and study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087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95B74"/>
                </a:solidFill>
                <a:latin typeface="Aptos"/>
              </a:defRPr>
            </a:pPr>
            <a:r>
              <a:t>Discovery without collapsing distinct evidence types</a:t>
            </a:r>
          </a:p>
        </p:txBody>
      </p:sp>
      <p:pic>
        <p:nvPicPr>
          <p:cNvPr id="5" name="Picture 4" descr="03-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18" y="1926768"/>
            <a:ext cx="5194663" cy="36118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7" name="Picture 6" descr="05-comp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998" y="1926768"/>
            <a:ext cx="5194663" cy="36118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8" name="TextBox 7"/>
          <p:cNvSpPr txBox="1"/>
          <p:nvPr/>
        </p:nvSpPr>
        <p:spPr>
          <a:xfrm>
            <a:off x="822960" y="5806440"/>
            <a:ext cx="1060704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041839"/>
                </a:solidFill>
                <a:latin typeface="Aptos"/>
              </a:defRPr>
            </a:pPr>
            <a:r>
              <a:t>•  Search preserves IDs, source links, sections, and pages</a:t>
            </a:r>
          </a:p>
          <a:p>
            <a:pPr>
              <a:spcAft>
                <a:spcPts val="1200"/>
              </a:spcAft>
              <a:defRPr sz="1300">
                <a:solidFill>
                  <a:srgbClr val="041839"/>
                </a:solidFill>
                <a:latin typeface="Aptos"/>
              </a:defRPr>
            </a:pPr>
            <a:r>
              <a:t>•  Compare keeps organism and experimental-system labels visible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95B74"/>
                </a:solidFill>
                <a:latin typeface="Aptos"/>
              </a:defRPr>
            </a:pPr>
            <a:r>
              <a:t>Space Biology Evidence Engine  |  John Hernandez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8229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41839"/>
                </a:solidFill>
                <a:latin typeface="Aptos Display"/>
              </a:defRPr>
            </a:pPr>
            <a:r>
              <a:t>AI capabilities and safeguards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087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95B74"/>
                </a:solidFill>
                <a:latin typeface="Aptos"/>
              </a:defRPr>
            </a:pPr>
            <a:r>
              <a:t>Useful automation with explicit scientific boundaries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3520440" cy="1600200"/>
          </a:xfrm>
          <a:prstGeom prst="roundRect">
            <a:avLst/>
          </a:prstGeom>
          <a:solidFill>
            <a:srgbClr val="EFF8FC"/>
          </a:solidFill>
          <a:ln w="19050">
            <a:solidFill>
              <a:srgbClr val="27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041839"/>
                </a:solidFill>
                <a:latin typeface="Aptos Display"/>
              </a:defRPr>
            </a:pPr>
            <a:r>
              <a:t>Local embeddings</a:t>
            </a:r>
          </a:p>
          <a:p>
            <a:pPr>
              <a:spcBef>
                <a:spcPts val="500"/>
              </a:spcBef>
              <a:defRPr sz="1200">
                <a:solidFill>
                  <a:srgbClr val="495B74"/>
                </a:solidFill>
                <a:latin typeface="Aptos"/>
              </a:defRPr>
            </a:pPr>
            <a:r>
              <a:t>Sentence Transformers for private, low-cost semantic retrieval.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53128" y="1874519"/>
            <a:ext cx="3520440" cy="1600200"/>
          </a:xfrm>
          <a:prstGeom prst="roundRect">
            <a:avLst/>
          </a:prstGeom>
          <a:solidFill>
            <a:srgbClr val="EFF8FC"/>
          </a:solidFill>
          <a:ln w="19050">
            <a:solidFill>
              <a:srgbClr val="006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041839"/>
                </a:solidFill>
                <a:latin typeface="Aptos Display"/>
              </a:defRPr>
            </a:pPr>
            <a:r>
              <a:t>Provider-neutral generation</a:t>
            </a:r>
          </a:p>
          <a:p>
            <a:pPr>
              <a:spcBef>
                <a:spcPts val="500"/>
              </a:spcBef>
              <a:defRPr sz="1200">
                <a:solidFill>
                  <a:srgbClr val="495B74"/>
                </a:solidFill>
                <a:latin typeface="Aptos"/>
              </a:defRPr>
            </a:pPr>
            <a:r>
              <a:t>OpenAI and local Ollama paths behind a shared interface.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11896" y="1874519"/>
            <a:ext cx="3520440" cy="1600200"/>
          </a:xfrm>
          <a:prstGeom prst="roundRect">
            <a:avLst/>
          </a:prstGeom>
          <a:solidFill>
            <a:srgbClr val="EFF8FC"/>
          </a:solidFill>
          <a:ln w="19050">
            <a:solidFill>
              <a:srgbClr val="DCA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041839"/>
                </a:solidFill>
                <a:latin typeface="Aptos Display"/>
              </a:defRPr>
            </a:pPr>
            <a:r>
              <a:t>Hybrid retrieval</a:t>
            </a:r>
          </a:p>
          <a:p>
            <a:pPr>
              <a:spcBef>
                <a:spcPts val="500"/>
              </a:spcBef>
              <a:defRPr sz="1200">
                <a:solidFill>
                  <a:srgbClr val="495B74"/>
                </a:solidFill>
                <a:latin typeface="Aptos"/>
              </a:defRPr>
            </a:pPr>
            <a:r>
              <a:t>Vector similarity and PostgreSQL full-text retrieval with optional reranking.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94760"/>
            <a:ext cx="3520440" cy="1600200"/>
          </a:xfrm>
          <a:prstGeom prst="roundRect">
            <a:avLst/>
          </a:prstGeom>
          <a:solidFill>
            <a:srgbClr val="EFF8FC"/>
          </a:solidFill>
          <a:ln w="19050">
            <a:solidFill>
              <a:srgbClr val="27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041839"/>
                </a:solidFill>
                <a:latin typeface="Aptos Display"/>
              </a:defRPr>
            </a:pPr>
            <a:r>
              <a:t>Evidence gates</a:t>
            </a:r>
          </a:p>
          <a:p>
            <a:pPr>
              <a:spcBef>
                <a:spcPts val="500"/>
              </a:spcBef>
              <a:defRPr sz="1200">
                <a:solidFill>
                  <a:srgbClr val="495B74"/>
                </a:solidFill>
                <a:latin typeface="Aptos"/>
              </a:defRPr>
            </a:pPr>
            <a:r>
              <a:t>Minimum passage and publication support before generation.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3794760"/>
            <a:ext cx="3520440" cy="1600200"/>
          </a:xfrm>
          <a:prstGeom prst="roundRect">
            <a:avLst/>
          </a:prstGeom>
          <a:solidFill>
            <a:srgbClr val="EFF8FC"/>
          </a:solidFill>
          <a:ln w="19050">
            <a:solidFill>
              <a:srgbClr val="006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041839"/>
                </a:solidFill>
                <a:latin typeface="Aptos Display"/>
              </a:defRPr>
            </a:pPr>
            <a:r>
              <a:t>Citation-first output</a:t>
            </a:r>
          </a:p>
          <a:p>
            <a:pPr>
              <a:spcBef>
                <a:spcPts val="500"/>
              </a:spcBef>
              <a:defRPr sz="1200">
                <a:solidFill>
                  <a:srgbClr val="495B74"/>
                </a:solidFill>
                <a:latin typeface="Aptos"/>
              </a:defRPr>
            </a:pPr>
            <a:r>
              <a:t>Passage IDs and publication provenance remain inspectable.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11896" y="3794760"/>
            <a:ext cx="3520440" cy="1600200"/>
          </a:xfrm>
          <a:prstGeom prst="roundRect">
            <a:avLst/>
          </a:prstGeom>
          <a:solidFill>
            <a:srgbClr val="EFF8FC"/>
          </a:solidFill>
          <a:ln w="19050">
            <a:solidFill>
              <a:srgbClr val="DCA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041839"/>
                </a:solidFill>
                <a:latin typeface="Aptos Display"/>
              </a:defRPr>
            </a:pPr>
            <a:r>
              <a:t>Hallucination checks</a:t>
            </a:r>
          </a:p>
          <a:p>
            <a:pPr>
              <a:spcBef>
                <a:spcPts val="500"/>
              </a:spcBef>
              <a:defRPr sz="1200">
                <a:solidFill>
                  <a:srgbClr val="495B74"/>
                </a:solidFill>
                <a:latin typeface="Aptos"/>
              </a:defRPr>
            </a:pPr>
            <a:r>
              <a:t>Offline fixtures flag unsupported claims and citation mismatches.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95B74"/>
                </a:solidFill>
                <a:latin typeface="Aptos"/>
              </a:defRPr>
            </a:pPr>
            <a:r>
              <a:t>Space Biology Evidence Engine  |  John Hernandez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8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ro-atmo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8229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Results and engineering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087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2E2EE"/>
                </a:solidFill>
                <a:latin typeface="Aptos"/>
              </a:defRPr>
            </a:pPr>
            <a:r>
              <a:t>A tested MVP with transparent limitations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3246120" cy="1417320"/>
          </a:xfrm>
          <a:prstGeom prst="roundRect">
            <a:avLst/>
          </a:prstGeom>
          <a:solidFill>
            <a:srgbClr val="EFF8FC"/>
          </a:solidFill>
          <a:ln w="19050">
            <a:solidFill>
              <a:srgbClr val="27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041839"/>
                </a:solidFill>
                <a:latin typeface="Aptos Display"/>
              </a:defRPr>
            </a:pPr>
            <a:r>
              <a:t>23 publications</a:t>
            </a:r>
          </a:p>
          <a:p>
            <a:pPr>
              <a:spcBef>
                <a:spcPts val="500"/>
              </a:spcBef>
              <a:defRPr sz="1200">
                <a:solidFill>
                  <a:srgbClr val="495B74"/>
                </a:solidFill>
                <a:latin typeface="Aptos"/>
              </a:defRPr>
            </a:pPr>
            <a:r>
              <a:t>Approved controlled corpus inventory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2011680"/>
            <a:ext cx="3246120" cy="1417320"/>
          </a:xfrm>
          <a:prstGeom prst="roundRect">
            <a:avLst/>
          </a:prstGeom>
          <a:solidFill>
            <a:srgbClr val="EFF8FC"/>
          </a:solidFill>
          <a:ln w="19050">
            <a:solidFill>
              <a:srgbClr val="DCA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041839"/>
                </a:solidFill>
                <a:latin typeface="Aptos Display"/>
              </a:defRPr>
            </a:pPr>
            <a:r>
              <a:t>292+ Python tests</a:t>
            </a:r>
          </a:p>
          <a:p>
            <a:pPr>
              <a:spcBef>
                <a:spcPts val="500"/>
              </a:spcBef>
              <a:defRPr sz="1200">
                <a:solidFill>
                  <a:srgbClr val="495B74"/>
                </a:solidFill>
                <a:latin typeface="Aptos"/>
              </a:defRPr>
            </a:pPr>
            <a:r>
              <a:t>Unit, API, retrieval, ingestion, citation, and accessibility coverage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011680"/>
            <a:ext cx="3246120" cy="1417320"/>
          </a:xfrm>
          <a:prstGeom prst="roundRect">
            <a:avLst/>
          </a:prstGeom>
          <a:solidFill>
            <a:srgbClr val="EFF8FC"/>
          </a:solidFill>
          <a:ln w="19050">
            <a:solidFill>
              <a:srgbClr val="006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041839"/>
                </a:solidFill>
                <a:latin typeface="Aptos Display"/>
              </a:defRPr>
            </a:pPr>
            <a:r>
              <a:t>CI quality gates</a:t>
            </a:r>
          </a:p>
          <a:p>
            <a:pPr>
              <a:spcBef>
                <a:spcPts val="500"/>
              </a:spcBef>
              <a:defRPr sz="1200">
                <a:solidFill>
                  <a:srgbClr val="495B74"/>
                </a:solidFill>
                <a:latin typeface="Aptos"/>
              </a:defRPr>
            </a:pPr>
            <a:r>
              <a:t>Ruff, Pyright, Python tests, Node typecheck and UI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241280" cy="1645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dirty="0"/>
              <a:t>•  Citation correctness, hallucination, and retrieval evaluation harnesses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dirty="0"/>
              <a:t>•  No secrets committed; `.env` loading and fail-closed provider configuration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rPr dirty="0"/>
              <a:t>•  Accessible interface patterns and keyboard-tested UI components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4D2E1"/>
                </a:solidFill>
                <a:latin typeface="Aptos"/>
              </a:defRPr>
            </a:pPr>
            <a:r>
              <a:t>Space Biology Evidence Engine  |  John Hernandez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8229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41839"/>
                </a:solidFill>
                <a:latin typeface="Aptos Display"/>
              </a:defRPr>
            </a:pPr>
            <a:r>
              <a:t>Demo readiness and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087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95B74"/>
                </a:solidFill>
                <a:latin typeface="Aptos"/>
              </a:defRPr>
            </a:pPr>
            <a:r>
              <a:t>Local-first setup with a documented backup path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65960"/>
            <a:ext cx="5166360" cy="1828800"/>
          </a:xfrm>
          <a:prstGeom prst="roundRect">
            <a:avLst/>
          </a:prstGeom>
          <a:solidFill>
            <a:srgbClr val="EFF8FC"/>
          </a:solidFill>
          <a:ln w="19050">
            <a:solidFill>
              <a:srgbClr val="27B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041839"/>
                </a:solidFill>
                <a:latin typeface="Aptos Display"/>
              </a:defRPr>
            </a:pPr>
            <a:r>
              <a:t>Primary demo</a:t>
            </a:r>
          </a:p>
          <a:p>
            <a:pPr>
              <a:spcBef>
                <a:spcPts val="500"/>
              </a:spcBef>
              <a:defRPr sz="1200">
                <a:solidFill>
                  <a:srgbClr val="495B74"/>
                </a:solidFill>
                <a:latin typeface="Aptos"/>
              </a:defRPr>
            </a:pPr>
            <a:r>
              <a:t>Run Postgres/pgvector, ingest approved PDFs, start FastAPI + Next.js, and use Ollama or OpenAI for grounded Ask.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965960"/>
            <a:ext cx="5166360" cy="1828800"/>
          </a:xfrm>
          <a:prstGeom prst="roundRect">
            <a:avLst/>
          </a:prstGeom>
          <a:solidFill>
            <a:srgbClr val="EFF8FC"/>
          </a:solidFill>
          <a:ln w="19050">
            <a:solidFill>
              <a:srgbClr val="DCA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rtlCol="0" anchor="ctr"/>
          <a:lstStyle/>
          <a:p>
            <a:pPr algn="ctr">
              <a:defRPr sz="1700" b="1">
                <a:solidFill>
                  <a:srgbClr val="041839"/>
                </a:solidFill>
                <a:latin typeface="Aptos Display"/>
              </a:defRPr>
            </a:pPr>
            <a:r>
              <a:t>Backup demo</a:t>
            </a:r>
          </a:p>
          <a:p>
            <a:pPr>
              <a:spcBef>
                <a:spcPts val="500"/>
              </a:spcBef>
              <a:defRPr sz="1200">
                <a:solidFill>
                  <a:srgbClr val="495B74"/>
                </a:solidFill>
                <a:latin typeface="Aptos"/>
              </a:defRPr>
            </a:pPr>
            <a:r>
              <a:t>Use repository screenshots and this deck if network, model, Docker, or showcase equipment is unavailable.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241280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041839"/>
                </a:solidFill>
                <a:latin typeface="Aptos"/>
              </a:defRPr>
            </a:pPr>
            <a:r>
              <a:t>•  Documented clean-machine setup and troubleshooting</a:t>
            </a:r>
          </a:p>
          <a:p>
            <a:pPr>
              <a:spcAft>
                <a:spcPts val="1200"/>
              </a:spcAft>
              <a:defRPr sz="1700">
                <a:solidFill>
                  <a:srgbClr val="041839"/>
                </a:solidFill>
                <a:latin typeface="Aptos"/>
              </a:defRPr>
            </a:pPr>
            <a:r>
              <a:t>•  PDF fetch/ingest commands and provenance-preserving index</a:t>
            </a:r>
          </a:p>
          <a:p>
            <a:pPr>
              <a:spcAft>
                <a:spcPts val="1200"/>
              </a:spcAft>
              <a:defRPr sz="1700">
                <a:solidFill>
                  <a:srgbClr val="041839"/>
                </a:solidFill>
                <a:latin typeface="Aptos"/>
              </a:defRPr>
            </a:pPr>
            <a:r>
              <a:t>•  Static corpus browsing remains available without the model provider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95B74"/>
                </a:solidFill>
                <a:latin typeface="Aptos"/>
              </a:defRPr>
            </a:pPr>
            <a:r>
              <a:t>Space Biology Evidence Engine  |  John Hernandez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8229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41839"/>
                </a:solidFill>
                <a:latin typeface="Aptos Display"/>
              </a:defRPr>
            </a:pPr>
            <a:r>
              <a:t>Known limitations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087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95B74"/>
                </a:solidFill>
                <a:latin typeface="Aptos"/>
              </a:defRPr>
            </a:pPr>
            <a:r>
              <a:t>The MVP is intentionally bounded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495B74"/>
                </a:solidFill>
                <a:latin typeface="Aptos"/>
              </a:defRPr>
            </a:pPr>
            <a:r>
              <a:t>Space Biology Evidence Engine  |  John Hernandez  |  11</a:t>
            </a:r>
          </a:p>
        </p:txBody>
      </p:sp>
      <p:graphicFrame>
        <p:nvGraphicFramePr>
          <p:cNvPr id="7" name="TextBox 3">
            <a:extLst>
              <a:ext uri="{FF2B5EF4-FFF2-40B4-BE49-F238E27FC236}">
                <a16:creationId xmlns:a16="http://schemas.microsoft.com/office/drawing/2014/main" id="{F37A08E5-75AE-51A9-4609-AB66425FC12F}"/>
              </a:ext>
            </a:extLst>
          </p:cNvPr>
          <p:cNvGraphicFramePr/>
          <p:nvPr/>
        </p:nvGraphicFramePr>
        <p:xfrm>
          <a:off x="914400" y="1965960"/>
          <a:ext cx="10058400" cy="3931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ero-atmosphere.png">
            <a:extLst>
              <a:ext uri="{FF2B5EF4-FFF2-40B4-BE49-F238E27FC236}">
                <a16:creationId xmlns:a16="http://schemas.microsoft.com/office/drawing/2014/main" id="{2E54B34C-32C0-D0DA-CCF8-F06C955E1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6060"/>
            <a:ext cx="12192000" cy="57519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CFEA96-19D9-7739-B6A9-6D6804CC0D38}"/>
              </a:ext>
            </a:extLst>
          </p:cNvPr>
          <p:cNvSpPr txBox="1"/>
          <p:nvPr/>
        </p:nvSpPr>
        <p:spPr>
          <a:xfrm>
            <a:off x="640080" y="1813561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Trustworthy evidence, one passage at a 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F36217-D559-8B0D-8F79-D1645EF5CD71}"/>
              </a:ext>
            </a:extLst>
          </p:cNvPr>
          <p:cNvSpPr txBox="1"/>
          <p:nvPr/>
        </p:nvSpPr>
        <p:spPr>
          <a:xfrm>
            <a:off x="658368" y="2499361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2E2EE"/>
                </a:solidFill>
                <a:latin typeface="Aptos"/>
              </a:defRPr>
            </a:pPr>
            <a:r>
              <a:t>A practical foundation for citation-first space-biology research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1907FF-CAB1-6237-DEFA-0D552A6758DA}"/>
              </a:ext>
            </a:extLst>
          </p:cNvPr>
          <p:cNvSpPr txBox="1"/>
          <p:nvPr/>
        </p:nvSpPr>
        <p:spPr>
          <a:xfrm>
            <a:off x="868680" y="3413761"/>
            <a:ext cx="4572000" cy="2286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Aptos"/>
              </a:defRPr>
            </a:pPr>
            <a:r>
              <a:rPr dirty="0"/>
              <a:t>•  Controlled corpus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Aptos"/>
              </a:defRPr>
            </a:pPr>
            <a:r>
              <a:rPr dirty="0"/>
              <a:t>•  Grounded retrieval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Aptos"/>
              </a:defRPr>
            </a:pPr>
            <a:r>
              <a:rPr dirty="0"/>
              <a:t>•  Validated citations</a:t>
            </a:r>
          </a:p>
          <a:p>
            <a:pPr>
              <a:spcAft>
                <a:spcPts val="1200"/>
              </a:spcAft>
              <a:defRPr sz="2400">
                <a:solidFill>
                  <a:srgbClr val="FFFFFF"/>
                </a:solidFill>
                <a:latin typeface="Aptos"/>
              </a:defRPr>
            </a:pPr>
            <a:r>
              <a:rPr dirty="0"/>
              <a:t>•  Transparent limitations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6A7092-4A33-BA2F-37BE-40C16570FC1C}"/>
              </a:ext>
            </a:extLst>
          </p:cNvPr>
          <p:cNvSpPr txBox="1"/>
          <p:nvPr/>
        </p:nvSpPr>
        <p:spPr>
          <a:xfrm>
            <a:off x="3854095" y="5655885"/>
            <a:ext cx="4544769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Aptos"/>
              </a:defRPr>
            </a:pPr>
            <a:r>
              <a:t>John Hernandez</a:t>
            </a:r>
            <a:br/>
            <a:r>
              <a:t>jherna65@fau.edu</a:t>
            </a:r>
            <a:br/>
            <a:r>
              <a:t>GitHub: bluefate/spacebio-evidence-engine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DB9DFD-463E-C724-8678-805790C10BC4}"/>
              </a:ext>
            </a:extLst>
          </p:cNvPr>
          <p:cNvSpPr txBox="1"/>
          <p:nvPr/>
        </p:nvSpPr>
        <p:spPr>
          <a:xfrm>
            <a:off x="64008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B4D2E1"/>
                </a:solidFill>
                <a:latin typeface="Aptos"/>
              </a:defRPr>
            </a:pPr>
            <a:r>
              <a:t>Space Biology Evidence Engine  |  John Hernandez  |  12</a:t>
            </a:r>
          </a:p>
        </p:txBody>
      </p:sp>
      <p:pic>
        <p:nvPicPr>
          <p:cNvPr id="10" name="Picture 9" descr="logo-wordmark.png">
            <a:extLst>
              <a:ext uri="{FF2B5EF4-FFF2-40B4-BE49-F238E27FC236}">
                <a16:creationId xmlns:a16="http://schemas.microsoft.com/office/drawing/2014/main" id="{A7801251-E1E2-1453-9BEA-B46D0FFA1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474"/>
            <a:ext cx="3291840" cy="102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692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970</Words>
  <Application>Microsoft Macintosh PowerPoint</Application>
  <PresentationFormat>Widescreen</PresentationFormat>
  <Paragraphs>118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Hernandez</cp:lastModifiedBy>
  <cp:revision>3</cp:revision>
  <dcterms:created xsi:type="dcterms:W3CDTF">2013-01-27T09:14:16Z</dcterms:created>
  <dcterms:modified xsi:type="dcterms:W3CDTF">2026-08-27T02:09:30Z</dcterms:modified>
  <cp:category/>
</cp:coreProperties>
</file>